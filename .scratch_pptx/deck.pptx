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0" r:id="rId3"/>
    <p:sldId id="297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</p:sldIdLst>
  <p:sldSz cx="9144000" cy="5143500" type="screen16x9"/>
  <p:notesSz cx="6858000" cy="9144000"/>
  <p:embeddedFontLst>
    <p:embeddedFont>
      <p:font typeface="Aptos" panose="020B0004020202020204" pitchFamily="34" charset="0"/>
      <p:regular r:id="rId21"/>
      <p:bold r:id="rId22"/>
      <p:italic r:id="rId23"/>
    </p:embeddedFont>
    <p:embeddedFont>
      <p:font typeface="Berlin Sans FB" panose="020E0602020502020306" pitchFamily="34" charset="0"/>
      <p:regular r:id="rId24"/>
      <p:bold r:id="rId25"/>
    </p:embeddedFont>
    <p:embeddedFont>
      <p:font typeface="Lexend Deca" panose="020B0604020202020204" charset="-78"/>
      <p:regular r:id="rId26"/>
    </p:embeddedFont>
    <p:embeddedFont>
      <p:font typeface="Montserrat" pitchFamily="2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Light" panose="00000400000000000000" pitchFamily="2" charset="0"/>
      <p:regular r:id="rId35"/>
      <p: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241E834-0D8F-49A5-B348-F358C33C5C88}">
          <p14:sldIdLst>
            <p14:sldId id="260"/>
            <p14:sldId id="297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445"/>
    <a:srgbClr val="0000FF"/>
    <a:srgbClr val="EBEBEB"/>
    <a:srgbClr val="4681A0"/>
    <a:srgbClr val="255871"/>
    <a:srgbClr val="133040"/>
    <a:srgbClr val="015579"/>
    <a:srgbClr val="75403E"/>
    <a:srgbClr val="61413F"/>
    <a:srgbClr val="7E3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138BE6-E374-4A1A-BE6D-9E52B14417BE}">
  <a:tblStyle styleId="{1A138BE6-E374-4A1A-BE6D-9E52B14417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0286F9A-8295-4760-8310-7838FB866F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8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80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4"/>
    </p:cViewPr>
  </p:sorterViewPr>
  <p:notesViewPr>
    <p:cSldViewPr snapToGrid="0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BAAFC6-A576-CBAC-67AF-41CD599A2F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FBE4B-2668-E7C3-CB0A-56D3F4138B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56CE0-D90F-4EBB-B6D7-845B899DBB7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57E0-F614-78F1-4E62-999EC5F68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1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20581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13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46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80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65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31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01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01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027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670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17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84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29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522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27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981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gradFill flip="none" rotWithShape="1">
          <a:gsLst>
            <a:gs pos="0">
              <a:srgbClr val="133040"/>
            </a:gs>
            <a:gs pos="65000">
              <a:srgbClr val="255871"/>
            </a:gs>
            <a:gs pos="100000">
              <a:srgbClr val="4681A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512" y="-130675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F3FBF84B-E4F1-8C00-03F5-B4557D50F9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tx2">
                    <a:lumMod val="10000"/>
                  </a:schemeClr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 dirty="0"/>
          </a:p>
        </p:txBody>
      </p:sp>
      <p:pic>
        <p:nvPicPr>
          <p:cNvPr id="3" name="Google Shape;13;p3">
            <a:extLst>
              <a:ext uri="{FF2B5EF4-FFF2-40B4-BE49-F238E27FC236}">
                <a16:creationId xmlns:a16="http://schemas.microsoft.com/office/drawing/2014/main" id="{FF8533BD-4328-878F-B81D-D12F7A42FA2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3849" y="54347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717281-C173-D644-8653-460A2C37874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51957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42900" lvl="0" indent="-228600"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743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 preserve="1">
  <p:cSld name="Title + 2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 dirty="0"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720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>
  <p:cSld name="Title + 3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61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741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7718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 preserve="1">
  <p:cSld name="Blank · Small circui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3C9EA1-E213-929C-16AD-18F99C3E217B}"/>
              </a:ext>
            </a:extLst>
          </p:cNvPr>
          <p:cNvSpPr/>
          <p:nvPr userDrawn="1"/>
        </p:nvSpPr>
        <p:spPr>
          <a:xfrm>
            <a:off x="0" y="0"/>
            <a:ext cx="9144000" cy="85010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45E82-76BD-CA29-EADD-D6A6C55946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525" y="451358"/>
            <a:ext cx="9886950" cy="56685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87B43B-C7C0-343B-8873-B167BA757E3C}"/>
              </a:ext>
            </a:extLst>
          </p:cNvPr>
          <p:cNvSpPr/>
          <p:nvPr userDrawn="1"/>
        </p:nvSpPr>
        <p:spPr>
          <a:xfrm>
            <a:off x="0" y="0"/>
            <a:ext cx="9144000" cy="533400"/>
          </a:xfrm>
          <a:prstGeom prst="rect">
            <a:avLst/>
          </a:prstGeom>
          <a:gradFill flip="none" rotWithShape="1">
            <a:gsLst>
              <a:gs pos="0">
                <a:srgbClr val="B33B3B"/>
              </a:gs>
              <a:gs pos="51000">
                <a:srgbClr val="7E3F3E"/>
              </a:gs>
              <a:gs pos="100000">
                <a:srgbClr val="61413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B779C-120E-F612-A467-F9B511A392E9}"/>
              </a:ext>
            </a:extLst>
          </p:cNvPr>
          <p:cNvSpPr/>
          <p:nvPr userDrawn="1"/>
        </p:nvSpPr>
        <p:spPr>
          <a:xfrm>
            <a:off x="146050" y="168750"/>
            <a:ext cx="1193800" cy="603158"/>
          </a:xfrm>
          <a:prstGeom prst="rect">
            <a:avLst/>
          </a:prstGeom>
          <a:solidFill>
            <a:srgbClr val="015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57CCD-A93A-4B33-D5A5-4DB16C9437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2846" y="223642"/>
            <a:ext cx="1074572" cy="460531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285475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 preserve="1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6288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832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 flip="none" rotWithShape="1">
          <a:gsLst>
            <a:gs pos="0">
              <a:srgbClr val="133040"/>
            </a:gs>
            <a:gs pos="65000">
              <a:srgbClr val="255871"/>
            </a:gs>
            <a:gs pos="100000">
              <a:srgbClr val="4681A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8E0B8A-4A1E-11C5-C185-E46F0A68EA91}"/>
              </a:ext>
            </a:extLst>
          </p:cNvPr>
          <p:cNvSpPr/>
          <p:nvPr userDrawn="1"/>
        </p:nvSpPr>
        <p:spPr>
          <a:xfrm>
            <a:off x="0" y="3307355"/>
            <a:ext cx="9144000" cy="1836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D4755-6D3D-371A-9489-255CAF69B46F}"/>
              </a:ext>
            </a:extLst>
          </p:cNvPr>
          <p:cNvSpPr/>
          <p:nvPr userDrawn="1"/>
        </p:nvSpPr>
        <p:spPr>
          <a:xfrm rot="2700000">
            <a:off x="7175500" y="2920409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0292E0-48AA-A570-AE1E-07CBC3DF7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Google Shape;8;p1">
            <a:extLst>
              <a:ext uri="{FF2B5EF4-FFF2-40B4-BE49-F238E27FC236}">
                <a16:creationId xmlns:a16="http://schemas.microsoft.com/office/drawing/2014/main" id="{82E3F300-0A88-E531-8DFA-CB4A96BEEEA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tx2">
                    <a:lumMod val="10000"/>
                  </a:schemeClr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5C5F17-26F3-4FD7-A487-84310E9FC3DB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65035" y="2908257"/>
            <a:ext cx="735330" cy="798195"/>
          </a:xfrm>
          <a:prstGeom prst="rect">
            <a:avLst/>
          </a:prstGeom>
          <a:noFill/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anose="00000500000000000000" pitchFamily="50" charset="0"/>
          <a:ea typeface="Poppins" panose="00000500000000000000" pitchFamily="50" charset="0"/>
          <a:cs typeface="Poppins" panose="000005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 Light" panose="00000400000000000000" pitchFamily="50" charset="0"/>
          <a:ea typeface="Poppins Light" panose="00000400000000000000" pitchFamily="50" charset="0"/>
          <a:cs typeface="Poppins Light" panose="000004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tx2">
                    <a:lumMod val="10000"/>
                  </a:schemeClr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E0B8A-4A1E-11C5-C185-E46F0A68EA91}"/>
              </a:ext>
            </a:extLst>
          </p:cNvPr>
          <p:cNvSpPr/>
          <p:nvPr userDrawn="1"/>
        </p:nvSpPr>
        <p:spPr>
          <a:xfrm>
            <a:off x="0" y="0"/>
            <a:ext cx="9144000" cy="533400"/>
          </a:xfrm>
          <a:prstGeom prst="rect">
            <a:avLst/>
          </a:prstGeom>
          <a:gradFill flip="none" rotWithShape="1">
            <a:gsLst>
              <a:gs pos="0">
                <a:srgbClr val="133040"/>
              </a:gs>
              <a:gs pos="51000">
                <a:srgbClr val="255871"/>
              </a:gs>
              <a:gs pos="100000">
                <a:srgbClr val="4681A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DCA0D4-C943-400D-800C-968C8ECB0F57}"/>
              </a:ext>
            </a:extLst>
          </p:cNvPr>
          <p:cNvGrpSpPr/>
          <p:nvPr userDrawn="1"/>
        </p:nvGrpSpPr>
        <p:grpSpPr>
          <a:xfrm>
            <a:off x="5828723" y="340518"/>
            <a:ext cx="3200561" cy="385763"/>
            <a:chOff x="871377" y="373311"/>
            <a:chExt cx="3200561" cy="3857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3E8FB6-5708-4E1C-92D5-3396E414E6E4}"/>
                </a:ext>
              </a:extLst>
            </p:cNvPr>
            <p:cNvSpPr/>
            <p:nvPr userDrawn="1"/>
          </p:nvSpPr>
          <p:spPr>
            <a:xfrm>
              <a:off x="871377" y="373311"/>
              <a:ext cx="3200561" cy="38576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5000"/>
                    </a:schemeClr>
                  </a:solidFill>
                </a:rPr>
                <a:t>     SOLEM IT &amp; Digital Solutions Co.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6FF603F-194C-4A96-B30B-E61A4C77FBA5}"/>
                </a:ext>
              </a:extLst>
            </p:cNvPr>
            <p:cNvPicPr>
              <a:picLocks noChangeAspect="1" noChangeArrowheads="1"/>
            </p:cNvPicPr>
            <p:nvPr userDrawn="1"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64247" y="418770"/>
              <a:ext cx="271622" cy="294844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2381828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anose="00000500000000000000" pitchFamily="50" charset="0"/>
          <a:ea typeface="Poppins" panose="00000500000000000000" pitchFamily="50" charset="0"/>
          <a:cs typeface="Poppins" panose="000005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 Light" panose="00000400000000000000" pitchFamily="50" charset="0"/>
          <a:ea typeface="Poppins Light" panose="00000400000000000000" pitchFamily="50" charset="0"/>
          <a:cs typeface="Poppins Light" panose="00000400000000000000" pitchFamily="50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lemitsolutions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78;p48">
            <a:extLst>
              <a:ext uri="{FF2B5EF4-FFF2-40B4-BE49-F238E27FC236}">
                <a16:creationId xmlns:a16="http://schemas.microsoft.com/office/drawing/2014/main" id="{89879430-17EA-C526-0E5B-A6C713218D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7155" y="576583"/>
            <a:ext cx="2549385" cy="1573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>
            <a:spLocks noGrp="1"/>
          </p:cNvSpPr>
          <p:nvPr>
            <p:ph type="ctrTitle"/>
          </p:nvPr>
        </p:nvSpPr>
        <p:spPr>
          <a:xfrm>
            <a:off x="372177" y="3780357"/>
            <a:ext cx="8438670" cy="359758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Empowering businesses with comprehensive IT solutions and creative digital services that enhance operational performance and foster sustainable growth</a:t>
            </a:r>
            <a:endParaRPr sz="2400" dirty="0">
              <a:solidFill>
                <a:schemeClr val="bg2">
                  <a:lumMod val="50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9326" y="776895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6302" y="1340268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6011" y="288253"/>
            <a:ext cx="1032700" cy="1209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A5860E-C9E4-D300-E697-00BA931E19D9}"/>
              </a:ext>
            </a:extLst>
          </p:cNvPr>
          <p:cNvCxnSpPr/>
          <p:nvPr/>
        </p:nvCxnSpPr>
        <p:spPr>
          <a:xfrm>
            <a:off x="372177" y="4217581"/>
            <a:ext cx="8438670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82842D6-D343-20B0-3136-E71AEAE40EEE}"/>
              </a:ext>
            </a:extLst>
          </p:cNvPr>
          <p:cNvSpPr txBox="1"/>
          <p:nvPr/>
        </p:nvSpPr>
        <p:spPr>
          <a:xfrm>
            <a:off x="258763" y="4295048"/>
            <a:ext cx="4922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Poppins Light" panose="00000400000000000000" pitchFamily="50" charset="0"/>
                <a:cs typeface="Poppins Light" panose="00000400000000000000" pitchFamily="50" charset="0"/>
              </a:rPr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1BD2D-7C72-12C8-5107-684E5340CA8F}"/>
              </a:ext>
            </a:extLst>
          </p:cNvPr>
          <p:cNvSpPr txBox="1"/>
          <p:nvPr/>
        </p:nvSpPr>
        <p:spPr>
          <a:xfrm>
            <a:off x="6592186" y="4295048"/>
            <a:ext cx="2293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Poppins Light" panose="00000400000000000000" pitchFamily="50" charset="0"/>
                <a:cs typeface="Poppins Light" panose="00000400000000000000" pitchFamily="50" charset="0"/>
              </a:rPr>
              <a:t>www.solemitsolutions.com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8C794-F493-5E5A-3648-D904E49A619A}"/>
              </a:ext>
            </a:extLst>
          </p:cNvPr>
          <p:cNvSpPr txBox="1"/>
          <p:nvPr/>
        </p:nvSpPr>
        <p:spPr>
          <a:xfrm>
            <a:off x="251822" y="2080860"/>
            <a:ext cx="59936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SOLEM IT &amp;</a:t>
            </a:r>
          </a:p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Digital Solutions 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Solem IT and Digital Solutions Co. is a software development firm that offers custom digital services—including web/mobile apps, IT consulting, and digital transformation—tailored to clients from startups to government agencies. Their team combines technical expertise with creative problem-solving to build scalable, user-friendly systems (e.g., a Document Tracking System, Treasury Management System for LGUs). They prioritize collaboration, transparency, and long-term partnerships, with the goal of helping businesses succeed through reliable, human-centered technology.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2821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About the Company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8081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We’re a creative startup agency built for bold thinks and early visionaries</a:t>
            </a:r>
          </a:p>
        </p:txBody>
      </p:sp>
    </p:spTree>
    <p:extLst>
      <p:ext uri="{BB962C8B-B14F-4D97-AF65-F5344CB8AC3E}">
        <p14:creationId xmlns:p14="http://schemas.microsoft.com/office/powerpoint/2010/main" val="2111143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What is SB Document Tracking?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Project Objectives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Project Scope and Delimitations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System Modules and Features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Implementation Methodology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System Security and Risk Management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Training Plan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Maintenance and Support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Project Acceptance and Completion Criteria</a:t>
            </a:r>
          </a:p>
          <a:p>
            <a:pPr algn="l"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Next Steps / 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658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Presentation Overview</a:t>
            </a:r>
          </a:p>
        </p:txBody>
      </p:sp>
    </p:spTree>
    <p:extLst>
      <p:ext uri="{BB962C8B-B14F-4D97-AF65-F5344CB8AC3E}">
        <p14:creationId xmlns:p14="http://schemas.microsoft.com/office/powerpoint/2010/main" val="3233700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web-based platform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designed specifically for Local Government Units to manage official documents such as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ordinances and resolutions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Enables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secure multi-user collaboration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with defined roles and permissions.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Provides complete </a:t>
            </a:r>
            <a:r>
              <a:rPr lang="en-US" sz="1050" b="1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transparency and accountability</a:t>
            </a: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through automated audit trails.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Streamlines the entire document lifecycle—from creation and review to approval and archiving.</a:t>
            </a:r>
          </a:p>
          <a:p>
            <a:pPr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Key capabilities include: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Document approvals and version control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Automated notifications and alerts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Advanced keyword-based search and filters</a:t>
            </a:r>
          </a:p>
          <a:p>
            <a:pPr marL="628650" lvl="1" indent="-171450" algn="l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Real-time reporting and monitoring dashboards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What is SB Document Tracking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6522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A Digital Solution for Modern LGU Document Management</a:t>
            </a:r>
          </a:p>
        </p:txBody>
      </p:sp>
    </p:spTree>
    <p:extLst>
      <p:ext uri="{BB962C8B-B14F-4D97-AF65-F5344CB8AC3E}">
        <p14:creationId xmlns:p14="http://schemas.microsoft.com/office/powerpoint/2010/main" val="3118110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8081058" cy="3092540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Streamline document workflows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Simplify the creation, management, and monitoring of ordinances, resolutions, and other official records.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Enhance collaboration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Enable multiple users to work simultaneously with role-based access and permissions.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Ensure accountability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Implement complete audit trails and structured approval workflows.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Boost efficiency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Automate notifications, reminders, and report generation to reduce manual tasks.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Maintain accurate records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Use version control to track all document changes and preserve historical data.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</a:rPr>
              <a:t>Enable quick retrieval</a:t>
            </a: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</a:rPr>
              <a:t> – Provide advanced search and filtering tools for instant document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Project Objectives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9049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What We Aim to Achieve</a:t>
            </a:r>
          </a:p>
        </p:txBody>
      </p:sp>
    </p:spTree>
    <p:extLst>
      <p:ext uri="{BB962C8B-B14F-4D97-AF65-F5344CB8AC3E}">
        <p14:creationId xmlns:p14="http://schemas.microsoft.com/office/powerpoint/2010/main" val="9662730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4107656" cy="3092540"/>
          </a:xfrm>
        </p:spPr>
        <p:txBody>
          <a:bodyPr/>
          <a:lstStyle/>
          <a:p>
            <a:pPr marL="114300" indent="0" algn="l">
              <a:buNone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Included in the Initial Phase:</a:t>
            </a:r>
            <a:endParaRPr lang="en-US" b="0" i="0" dirty="0">
              <a:solidFill>
                <a:schemeClr val="bg2">
                  <a:lumMod val="50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Fully functional web-based document tracking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Role-based access control (SB Secretary, Administrators, Members, etc.)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Document creation, approval workflows, and version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Audit trails and activity logging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Automated notifications and email alerts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Advanced search and filtering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Report generation 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Project Scope and Delimitations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5211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What’s included and What’s Not (Initial Phase)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071A61-F0E5-4499-9DDB-0891570B82FA}"/>
              </a:ext>
            </a:extLst>
          </p:cNvPr>
          <p:cNvSpPr txBox="1">
            <a:spLocks/>
          </p:cNvSpPr>
          <p:nvPr/>
        </p:nvSpPr>
        <p:spPr>
          <a:xfrm>
            <a:off x="4579144" y="1791535"/>
            <a:ext cx="4107656" cy="309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b="1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Excluded (but may be considered for future upgrades):</a:t>
            </a:r>
            <a:endParaRPr lang="en-US" b="0" i="0" dirty="0">
              <a:solidFill>
                <a:schemeClr val="bg2">
                  <a:lumMod val="50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Mobile application (iOS/Android)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Real-time chat or instant messaging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2">
                    <a:lumMod val="50000"/>
                  </a:schemeClr>
                </a:solidFill>
                <a:effectLst/>
                <a:latin typeface="quote-cjk-patch"/>
              </a:rPr>
              <a:t>Integration with external systems (e.g., national government portals, cloud storage services like Google Drive or OneDrive)</a:t>
            </a:r>
          </a:p>
        </p:txBody>
      </p:sp>
    </p:spTree>
    <p:extLst>
      <p:ext uri="{BB962C8B-B14F-4D97-AF65-F5344CB8AC3E}">
        <p14:creationId xmlns:p14="http://schemas.microsoft.com/office/powerpoint/2010/main" val="1574956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4" y="742950"/>
            <a:ext cx="5622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System Modules and Features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517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Core System Modules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FE359-AEBE-4EE5-BF29-3FDD1796B2A8}"/>
              </a:ext>
            </a:extLst>
          </p:cNvPr>
          <p:cNvSpPr txBox="1"/>
          <p:nvPr/>
        </p:nvSpPr>
        <p:spPr>
          <a:xfrm>
            <a:off x="607219" y="1576627"/>
            <a:ext cx="2847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i="0" dirty="0">
                <a:solidFill>
                  <a:schemeClr val="bg2">
                    <a:lumMod val="75000"/>
                  </a:schemeClr>
                </a:solidFill>
                <a:effectLst/>
                <a:latin typeface="Montserrat" pitchFamily="2" charset="0"/>
              </a:rPr>
              <a:t>Built for Efficiency and Ease of Use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FA5D1570-4A1B-49B5-9588-5FBE617A1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34261"/>
              </p:ext>
            </p:extLst>
          </p:nvPr>
        </p:nvGraphicFramePr>
        <p:xfrm>
          <a:off x="464344" y="1915180"/>
          <a:ext cx="8222456" cy="2903001"/>
        </p:xfrm>
        <a:graphic>
          <a:graphicData uri="http://schemas.openxmlformats.org/drawingml/2006/table">
            <a:tbl>
              <a:tblPr firstRow="1" bandRow="1">
                <a:tableStyleId>{1A138BE6-E374-4A1A-BE6D-9E52B14417BE}</a:tableStyleId>
              </a:tblPr>
              <a:tblGrid>
                <a:gridCol w="2180382">
                  <a:extLst>
                    <a:ext uri="{9D8B030D-6E8A-4147-A177-3AD203B41FA5}">
                      <a16:colId xmlns:a16="http://schemas.microsoft.com/office/drawing/2014/main" val="1322305920"/>
                    </a:ext>
                  </a:extLst>
                </a:gridCol>
                <a:gridCol w="6042074">
                  <a:extLst>
                    <a:ext uri="{9D8B030D-6E8A-4147-A177-3AD203B41FA5}">
                      <a16:colId xmlns:a16="http://schemas.microsoft.com/office/drawing/2014/main" val="2922340482"/>
                    </a:ext>
                  </a:extLst>
                </a:gridCol>
              </a:tblGrid>
              <a:tr h="33821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Module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4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Key Features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4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552802"/>
                  </a:ext>
                </a:extLst>
              </a:tr>
              <a:tr h="338214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Dashboard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Centralized overview with document statistics, pending approvals, recent activities, and notification summaries.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0928924"/>
                  </a:ext>
                </a:extLst>
              </a:tr>
              <a:tr h="338214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Document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Create, edit, submit, review, approve, and archive ordinances/resolutions. Supports file attachments and version history.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5332554"/>
                  </a:ext>
                </a:extLst>
              </a:tr>
              <a:tr h="338214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Approval Workflow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Configurable multi-level approval routing with email notifications at each stage.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8884953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User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Role-based access control—assign permissions per user role (Admin, Secretary, Member, Staff).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489310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Search and Filters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Keyword search with filters by document type, status, date range, author, and department.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217984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Reports Module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Generate status reports, history logs, and performance summaries in printable/exportable formats.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9107395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Audit Trails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Complete activity log tracking every action (create, edit, view, approve, delete) with timestamps and user IDs.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880409"/>
                  </a:ext>
                </a:extLst>
              </a:tr>
              <a:tr h="310029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Notifications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Automated in-app and email alerts for pending tasks, approvals, and document updates.</a:t>
                      </a: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2743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752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4107656" cy="1218951"/>
          </a:xfrm>
        </p:spPr>
        <p:txBody>
          <a:bodyPr/>
          <a:lstStyle/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1: Requirements Gathering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Conduct stakeholder interviews and workshops with LGU personnel.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Document current workflows and identify pain points.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Finalize functional and technical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Implementation Methodology (Phase 1-3)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8135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Phase 1 – Requirements Gathering, Phase 2 – System Design, Phase 3 – Development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071A61-F0E5-4499-9DDB-0891570B82FA}"/>
              </a:ext>
            </a:extLst>
          </p:cNvPr>
          <p:cNvSpPr txBox="1">
            <a:spLocks/>
          </p:cNvSpPr>
          <p:nvPr/>
        </p:nvSpPr>
        <p:spPr>
          <a:xfrm>
            <a:off x="4579144" y="1791535"/>
            <a:ext cx="4107656" cy="121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2: System Design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Design system architecture and database 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Create UI/UX mockups and interactive prototypes.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Present designs for LGU review and approval before development begins.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7EAFAE-2C3E-4B43-BEF7-1785AB4475A4}"/>
              </a:ext>
            </a:extLst>
          </p:cNvPr>
          <p:cNvSpPr txBox="1">
            <a:spLocks/>
          </p:cNvSpPr>
          <p:nvPr/>
        </p:nvSpPr>
        <p:spPr>
          <a:xfrm>
            <a:off x="2525316" y="3270693"/>
            <a:ext cx="4107656" cy="121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3: System Development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Develop the dashboard, document modules, and user management.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Implement search, reporting, security, and access control features.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Follow agile development with regular progress updates.</a:t>
            </a:r>
          </a:p>
        </p:txBody>
      </p:sp>
    </p:spTree>
    <p:extLst>
      <p:ext uri="{BB962C8B-B14F-4D97-AF65-F5344CB8AC3E}">
        <p14:creationId xmlns:p14="http://schemas.microsoft.com/office/powerpoint/2010/main" val="207825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4107656" cy="1486237"/>
          </a:xfrm>
        </p:spPr>
        <p:txBody>
          <a:bodyPr/>
          <a:lstStyle/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4: Testing and Quality Assurance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Functional Testing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Verify all features work as intended.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User Acceptance Testing (UAT)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LGU representatives test the system in a staging environment.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Performance Testing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Ensure system stability under load.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Bug fixing and system optimization based on test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Implementation Methodology (Phase 4-6)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7136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Phase 4 – Testing, Phase 5 – Deployment, Phase 6 – Training and Turnover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071A61-F0E5-4499-9DDB-0891570B82FA}"/>
              </a:ext>
            </a:extLst>
          </p:cNvPr>
          <p:cNvSpPr txBox="1">
            <a:spLocks/>
          </p:cNvSpPr>
          <p:nvPr/>
        </p:nvSpPr>
        <p:spPr>
          <a:xfrm>
            <a:off x="4579144" y="1791535"/>
            <a:ext cx="4107656" cy="14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5: Deployment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installation on the LGU's preferred server/environment.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Database configuration and initial data migration (if applicable).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configuration and go-live preparation.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939D1CB-1530-4248-886B-2F6BE5091CC5}"/>
              </a:ext>
            </a:extLst>
          </p:cNvPr>
          <p:cNvSpPr txBox="1">
            <a:spLocks/>
          </p:cNvSpPr>
          <p:nvPr/>
        </p:nvSpPr>
        <p:spPr>
          <a:xfrm>
            <a:off x="2525316" y="3517442"/>
            <a:ext cx="4107656" cy="14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Phase 6: Training and Turnover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Conduct hands-on training sessions for all user roles.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Provide system documentation and user manuals.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Officially turn over the system to the LGU.</a:t>
            </a:r>
          </a:p>
        </p:txBody>
      </p:sp>
    </p:spTree>
    <p:extLst>
      <p:ext uri="{BB962C8B-B14F-4D97-AF65-F5344CB8AC3E}">
        <p14:creationId xmlns:p14="http://schemas.microsoft.com/office/powerpoint/2010/main" val="34730089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3" y="1791535"/>
            <a:ext cx="8222455" cy="1950471"/>
          </a:xfrm>
        </p:spPr>
        <p:txBody>
          <a:bodyPr/>
          <a:lstStyle/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To maintain data integrity, confidentiality, and availability, the system will implement: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Role-Based Access Control (RBAC)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Users only access features and data relevant to their role.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Secure User Authentication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Strong password policies and optional multi-factor authentication.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Activity Logging and Audit Trails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Every action is logged with user ID, timestamp, and IP address.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Encrypted Database Connections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All data transmitted between the server and users is encrypted using SSL/TLS.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Regular System Backups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Automated daily/weekly backups to prevent data loss.</a:t>
            </a:r>
          </a:p>
          <a:p>
            <a:pPr algn="l">
              <a:buFont typeface="+mj-lt"/>
              <a:buAutoNum type="arabicPeriod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Restricted Administrator Access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Only authorized personnel have administrative privileges.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System Security and Risk Management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465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Protecting Your Data and Ensuring Compliance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07AA727-B214-4F23-A366-598E497A236C}"/>
              </a:ext>
            </a:extLst>
          </p:cNvPr>
          <p:cNvSpPr txBox="1">
            <a:spLocks/>
          </p:cNvSpPr>
          <p:nvPr/>
        </p:nvSpPr>
        <p:spPr>
          <a:xfrm>
            <a:off x="464343" y="3742006"/>
            <a:ext cx="8222455" cy="100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14300" indent="0" algn="l">
              <a:buNone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Risk Mitigation: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Regular security assessments and vulnerability scanning.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Incident response plan in case of system issues.</a:t>
            </a:r>
          </a:p>
        </p:txBody>
      </p:sp>
    </p:spTree>
    <p:extLst>
      <p:ext uri="{BB962C8B-B14F-4D97-AF65-F5344CB8AC3E}">
        <p14:creationId xmlns:p14="http://schemas.microsoft.com/office/powerpoint/2010/main" val="4021441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5"/>
            <a:ext cx="3854439" cy="1950471"/>
          </a:xfrm>
        </p:spPr>
        <p:txBody>
          <a:bodyPr/>
          <a:lstStyle/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Training Coverage: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Overview and Navigation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Document Creation and Management (Ordinances/Resolutions)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Uploading Supporting Documents and Attachments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Searching, Filtering, and Retrieving Documents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Generating and Exporting Reports</a:t>
            </a:r>
          </a:p>
          <a:p>
            <a:pPr marL="569913" indent="-225425" algn="l"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User Management (for Administrators)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Training Plan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3576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Empowering Your Team for Success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E9118CB-227C-425B-87CC-008945E7B3DE}"/>
              </a:ext>
            </a:extLst>
          </p:cNvPr>
          <p:cNvSpPr txBox="1">
            <a:spLocks/>
          </p:cNvSpPr>
          <p:nvPr/>
        </p:nvSpPr>
        <p:spPr>
          <a:xfrm>
            <a:off x="4925231" y="1791535"/>
            <a:ext cx="3854439" cy="2958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tx2">
                  <a:lumMod val="25000"/>
                </a:schemeClr>
              </a:buClr>
              <a:buSzPct val="100000"/>
              <a:buFont typeface="Wingdings" panose="05000000000000000000" pitchFamily="2" charset="2"/>
              <a:buChar char="Ø"/>
              <a:defRPr sz="1050" b="0" i="0" u="none" strike="noStrike" cap="none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Target Participants: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SB Secretary</a:t>
            </a: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Administrative Staff</a:t>
            </a: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System Administrators</a:t>
            </a:r>
          </a:p>
          <a:p>
            <a:pPr marL="45720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Authorized SB Members</a:t>
            </a:r>
          </a:p>
          <a:p>
            <a:pPr marL="457200" algn="l">
              <a:buFont typeface="Arial" panose="020B0604020202020204" pitchFamily="34" charset="0"/>
              <a:buChar char="•"/>
            </a:pP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Training Duration: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1 to 2 days (on-site or remote, depending on preference)</a:t>
            </a:r>
          </a:p>
          <a:p>
            <a:pPr algn="l"/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/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Deliverables: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User manuals and quick-reference guides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Video tutorials (optional, if requested)</a:t>
            </a:r>
          </a:p>
          <a:p>
            <a:pPr algn="l"/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35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After project turnover, we offer a </a:t>
            </a: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monthly maintenance and support agreement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(with a corresponding fee) that includes: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Bug Fixes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Prompt resolution of any system errors or issues.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Minor Feature Updates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Small enhancements based on user feedback.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Technical Support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Phone/email support during business hours.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System Monitoring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Proactive health checks and performance monitoring.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Database Maintenance</a:t>
            </a: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 – Regular optimization and cleanup.</a:t>
            </a:r>
          </a:p>
          <a:p>
            <a:pPr algn="l">
              <a:lnSpc>
                <a:spcPct val="150000"/>
              </a:lnSpc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Benefits: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Ensures system stability and security.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Provides peace of mind with dedicated support.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Allows the system to evolve with changing LGU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Maintenance and Support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45288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Keeping Your System Reliable and Up-to-Date</a:t>
            </a:r>
          </a:p>
        </p:txBody>
      </p:sp>
    </p:spTree>
    <p:extLst>
      <p:ext uri="{BB962C8B-B14F-4D97-AF65-F5344CB8AC3E}">
        <p14:creationId xmlns:p14="http://schemas.microsoft.com/office/powerpoint/2010/main" val="476737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The project will be considered officially complete once all the following conditions are met: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All agreed system modules are fully developed and functional.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The system is successfully deployed and operational in the LGU environment.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Training has been conducted for all authorized users.</a:t>
            </a:r>
          </a:p>
          <a:p>
            <a:pPr marL="569913" algn="l">
              <a:lnSpc>
                <a:spcPct val="150000"/>
              </a:lnSpc>
              <a:buFont typeface="+mj-lt"/>
              <a:buAutoNum type="arabicPeriod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The LGU has reviewed and formally approved the system.</a:t>
            </a:r>
          </a:p>
          <a:p>
            <a:pPr algn="l">
              <a:lnSpc>
                <a:spcPct val="150000"/>
              </a:lnSpc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Final Step: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Both parties will sign a Project Acceptance Certificate.</a:t>
            </a:r>
          </a:p>
          <a:p>
            <a:pPr marL="569913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i="0" dirty="0">
                <a:solidFill>
                  <a:schemeClr val="bg2">
                    <a:lumMod val="75000"/>
                  </a:schemeClr>
                </a:solidFill>
                <a:effectLst/>
              </a:rPr>
              <a:t>This officially marks the end of the development phase and the start of the maintenance period (if applicable).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Project Acceptance and Completion Criteria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8793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Defining Project Completion</a:t>
            </a:r>
          </a:p>
        </p:txBody>
      </p:sp>
    </p:spTree>
    <p:extLst>
      <p:ext uri="{BB962C8B-B14F-4D97-AF65-F5344CB8AC3E}">
        <p14:creationId xmlns:p14="http://schemas.microsoft.com/office/powerpoint/2010/main" val="2649489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Review and sign the project proposal.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Schedule a kickoff meeting to finalize requirements.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Assign LGU point persons for coordination.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Set target go-live date.</a:t>
            </a:r>
          </a:p>
          <a:p>
            <a:pPr algn="l">
              <a:lnSpc>
                <a:spcPct val="150000"/>
              </a:lnSpc>
            </a:pPr>
            <a:r>
              <a:rPr lang="en-US" sz="1000" b="1" i="0" dirty="0">
                <a:solidFill>
                  <a:schemeClr val="bg2">
                    <a:lumMod val="75000"/>
                  </a:schemeClr>
                </a:solidFill>
                <a:effectLst/>
              </a:rPr>
              <a:t>Contact Information:</a:t>
            </a: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SOLEM IT and Digital Solutions Co.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Email: info@solemitsolutions.com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Phone: +63 947 511 3910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Website: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www.solemitsolutions.com</a:t>
            </a:r>
            <a:endParaRPr lang="en-US" sz="1000" dirty="0">
              <a:solidFill>
                <a:schemeClr val="bg2">
                  <a:lumMod val="75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b="0" i="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Next Steps / Call to Action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2935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Let's Move Forward Together</a:t>
            </a:r>
          </a:p>
        </p:txBody>
      </p:sp>
    </p:spTree>
    <p:extLst>
      <p:ext uri="{BB962C8B-B14F-4D97-AF65-F5344CB8AC3E}">
        <p14:creationId xmlns:p14="http://schemas.microsoft.com/office/powerpoint/2010/main" val="1391913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marL="114300" indent="0" algn="ctr">
              <a:lnSpc>
                <a:spcPct val="150000"/>
              </a:lnSpc>
              <a:buNone/>
            </a:pPr>
            <a:endParaRPr lang="en-US" sz="3200" dirty="0">
              <a:solidFill>
                <a:schemeClr val="bg2">
                  <a:lumMod val="75000"/>
                </a:schemeClr>
              </a:solidFill>
              <a:latin typeface="Berlin Sans FB" panose="020E0602020502020306" pitchFamily="34" charset="0"/>
            </a:endParaRP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Berlin Sans FB" panose="020E0602020502020306" pitchFamily="34" charset="0"/>
              </a:rPr>
              <a:t>“The Secret in getting ahead is getting started”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1000" b="0" i="1" dirty="0">
                <a:solidFill>
                  <a:schemeClr val="bg2">
                    <a:lumMod val="75000"/>
                  </a:schemeClr>
                </a:solidFill>
                <a:effectLst/>
              </a:rPr>
              <a:t>- Mark Twain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Thank You!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4580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We Look Forward to Partnering with Your LGU</a:t>
            </a:r>
          </a:p>
        </p:txBody>
      </p:sp>
    </p:spTree>
    <p:extLst>
      <p:ext uri="{BB962C8B-B14F-4D97-AF65-F5344CB8AC3E}">
        <p14:creationId xmlns:p14="http://schemas.microsoft.com/office/powerpoint/2010/main" val="3319362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8241-B382-2710-3AD3-5D515B46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344" y="1791534"/>
            <a:ext cx="8222456" cy="3139187"/>
          </a:xfrm>
        </p:spPr>
        <p:txBody>
          <a:bodyPr/>
          <a:lstStyle/>
          <a:p>
            <a:pPr marL="114300" indent="0" algn="ctr">
              <a:lnSpc>
                <a:spcPct val="150000"/>
              </a:lnSpc>
              <a:buNone/>
            </a:pPr>
            <a:endParaRPr lang="en-US" sz="3200">
              <a:solidFill>
                <a:schemeClr val="bg2">
                  <a:lumMod val="75000"/>
                </a:schemeClr>
              </a:solidFill>
              <a:latin typeface="Berlin Sans FB" panose="020E0602020502020306" pitchFamily="34" charset="0"/>
            </a:endParaRPr>
          </a:p>
          <a:p>
            <a:pPr marL="114300" indent="0" algn="ctr">
              <a:lnSpc>
                <a:spcPct val="150000"/>
              </a:lnSpc>
              <a:buNone/>
            </a:pPr>
            <a:r>
              <a:rPr lang="en-US" sz="3200">
                <a:solidFill>
                  <a:schemeClr val="bg2">
                    <a:lumMod val="75000"/>
                  </a:schemeClr>
                </a:solidFill>
                <a:latin typeface="Berlin Sans FB" panose="020E0602020502020306" pitchFamily="34" charset="0"/>
              </a:rPr>
              <a:t>Open 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Berlin Sans FB" panose="020E0602020502020306" pitchFamily="34" charset="0"/>
              </a:rPr>
              <a:t>floor for questions and Discussion.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44CD9-AEB3-8DD1-8B05-AF43580EB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4F8BF-393D-AB02-A9D9-9EDD1BF67F35}"/>
              </a:ext>
            </a:extLst>
          </p:cNvPr>
          <p:cNvSpPr txBox="1"/>
          <p:nvPr/>
        </p:nvSpPr>
        <p:spPr>
          <a:xfrm>
            <a:off x="371473" y="742950"/>
            <a:ext cx="6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Thank You!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96AF0D-5ECE-603F-8D86-5E5C84C59362}"/>
              </a:ext>
            </a:extLst>
          </p:cNvPr>
          <p:cNvCxnSpPr>
            <a:cxnSpLocks/>
          </p:cNvCxnSpPr>
          <p:nvPr/>
        </p:nvCxnSpPr>
        <p:spPr>
          <a:xfrm>
            <a:off x="464344" y="1088619"/>
            <a:ext cx="8222456" cy="0"/>
          </a:xfrm>
          <a:prstGeom prst="line">
            <a:avLst/>
          </a:prstGeom>
          <a:ln w="12700" cmpd="sng">
            <a:solidFill>
              <a:schemeClr val="bg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58D2D3-1F87-2687-3236-683425CF37DC}"/>
              </a:ext>
            </a:extLst>
          </p:cNvPr>
          <p:cNvSpPr txBox="1"/>
          <p:nvPr/>
        </p:nvSpPr>
        <p:spPr>
          <a:xfrm>
            <a:off x="6829369" y="915493"/>
            <a:ext cx="19503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1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www.solemitsolutions.com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344" y="1316186"/>
            <a:ext cx="780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Montserrat" pitchFamily="2" charset="0"/>
              </a:rPr>
              <a:t>"We are excited to help you modernize your document management processes."</a:t>
            </a:r>
          </a:p>
        </p:txBody>
      </p:sp>
    </p:spTree>
    <p:extLst>
      <p:ext uri="{BB962C8B-B14F-4D97-AF65-F5344CB8AC3E}">
        <p14:creationId xmlns:p14="http://schemas.microsoft.com/office/powerpoint/2010/main" val="1571118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1546</Words>
  <Application>Microsoft Office PowerPoint</Application>
  <PresentationFormat>On-screen Show (16:9)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Poppins Light</vt:lpstr>
      <vt:lpstr>Berlin Sans FB</vt:lpstr>
      <vt:lpstr>Roboto</vt:lpstr>
      <vt:lpstr>Arial</vt:lpstr>
      <vt:lpstr>Lexend Deca</vt:lpstr>
      <vt:lpstr>quote-cjk-patch</vt:lpstr>
      <vt:lpstr>Montserrat</vt:lpstr>
      <vt:lpstr>Wingdings</vt:lpstr>
      <vt:lpstr>Muli</vt:lpstr>
      <vt:lpstr>Aptos</vt:lpstr>
      <vt:lpstr>Poppins</vt:lpstr>
      <vt:lpstr>Aliena template</vt:lpstr>
      <vt:lpstr>1_Aliena template</vt:lpstr>
      <vt:lpstr>Empowering businesses with comprehensive IT solutions and creative digital services that enhance operational performance and foster sustainable 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Kyuupi</dc:creator>
  <cp:lastModifiedBy>Armbel Besalo Bernal</cp:lastModifiedBy>
  <cp:revision>50</cp:revision>
  <dcterms:modified xsi:type="dcterms:W3CDTF">2026-08-23T14:12:48Z</dcterms:modified>
</cp:coreProperties>
</file>